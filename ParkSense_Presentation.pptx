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PARKSENSE</a:t>
            </a:r>
          </a:p>
          <a:p>
            <a:pPr>
              <a:spcBef>
                <a:spcPts val="1000"/>
              </a:spcBef>
              <a:defRPr sz="2200" b="1">
                <a:solidFill>
                  <a:srgbClr val="F8FAFC"/>
                </a:solidFill>
              </a:defRPr>
            </a:pPr>
            <a:r>
              <a:t>Intelligent Dual-Role Parking Operations &amp; Management System</a:t>
            </a:r>
          </a:p>
          <a:p>
            <a:pPr>
              <a:spcBef>
                <a:spcPts val="1500"/>
              </a:spcBef>
              <a:defRPr sz="1400">
                <a:solidFill>
                  <a:srgbClr val="94A3B8"/>
                </a:solidFill>
              </a:defRPr>
            </a:pPr>
            <a:r>
              <a:t>Comprehensive System Architecture, Objectives, Features &amp; Functionalities Showcase</a:t>
            </a:r>
          </a:p>
          <a:p>
            <a:pPr>
              <a:spcBef>
                <a:spcPts val="3000"/>
              </a:spcBef>
              <a:defRPr sz="1200">
                <a:solidFill>
                  <a:srgbClr val="818CF8"/>
                </a:solidFill>
              </a:defRPr>
            </a:pPr>
            <a:r>
              <a:t>Production Release v1.0  •  Flask Enterprise Application  •  Python 3.10+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Objectives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Background &amp; Problem Statement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Traditional Parking Friction: Lack of real-time slot visibility leads to congestion and wasted search time.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Role Confusion: Mixed admin/user interfaces create security risks and poor operator ergonomics.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Manual Billing Errors: Inconsistent hourly rounding, unverified employee discounts, and missing tax calculations.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Lack of Utilization Insights: Facility managers lack 30-day bay analytics, peak hour data, and audit trail exports.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Core Solution Objectives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Dual-Role Isolation: Explicitly separate Customer (Driver) workflow from Administrator operations.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Smart Nearest-Bay Allocation: Automated matching of 2W, 3W, and 4W vehicles to the closest compatible free slot.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Advance Reservations: Future time-window slot holding with simulated advance payment confirmations.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Automated Policy Pricing: Hour-rounding billing with employee exemptions, loyalty discounts, and GST calculation.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Data-Driven Analytics: Real-time capacity dashboard, utilization trends, and filterable CSV audit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Backend Core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Python 3.10+ &amp; Flask App Factory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Modular structure using SQLAlchemy ORM, Flask-Login, Flask-Migrate, and environment configuration via python-dotenv.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Database Layer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SQLite / MySQL 8+ Dual Mode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Defaults to zero-config SQLite for dev; supports high-concurrency MySQL for shared production environments.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2120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Frontend &amp; UI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Jinja2 Templates &amp; Bootstrap CSS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Server-rendered responsive UI with modular components, interactive vanilla JS (`spots.js`), and clean CSS themes.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931920"/>
            <a:ext cx="52120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API &amp; Security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REST API with JWT Bearer Token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Role-based route authorization decorators, JWT token issuance for API clients, and password hashing via Werkzeug.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Dual-Role Authentication &amp; Access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Role Separation Architecture</a:t>
            </a:r>
          </a:p>
          <a:p>
            <a:pPr>
              <a:spcBef>
                <a:spcPts val="1000"/>
              </a:spcBef>
              <a:defRPr sz="1200" b="1">
                <a:solidFill>
                  <a:srgbClr val="818CF8"/>
                </a:solidFill>
              </a:defRPr>
            </a:pPr>
            <a:r>
              <a:t>👤 Customer (Driver) Portal (/auth/user-login):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Self-service registration, multi-vehicle registry, advance booking with demo payment, and personal visit history.</a:t>
            </a:r>
          </a:p>
          <a:p>
            <a:pPr>
              <a:spcBef>
                <a:spcPts val="1000"/>
              </a:spcBef>
              <a:defRPr sz="1200" b="1">
                <a:solidFill>
                  <a:srgbClr val="818CF8"/>
                </a:solidFill>
              </a:defRPr>
            </a:pPr>
            <a:r>
              <a:t>🔧 Administrator Portal (/auth/admin-login):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CLI-only provisioning (`flask create-admin`), manual vehicle check-in/out dispatch, inventory control, and employee policy setup.</a:t>
            </a:r>
          </a:p>
          <a:p>
            <a:pPr>
              <a:spcBef>
                <a:spcPts val="1000"/>
              </a:spcBef>
              <a:defRPr sz="1200" b="1">
                <a:solidFill>
                  <a:srgbClr val="818CF8"/>
                </a:solidFill>
              </a:defRPr>
            </a:pPr>
            <a:r>
              <a:t>🛡️ Security &amp; Route Guards: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Decorators independently verify session roles and JWT scopes, blocking unauthorized access regardless of UI navigation links.</a:t>
            </a:r>
          </a:p>
        </p:txBody>
      </p:sp>
      <p:pic>
        <p:nvPicPr>
          <p:cNvPr id="6" name="Picture 5" descr="land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394960" cy="62794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Customer Portal: Fleet Registry &amp; Reservations</a:t>
            </a:r>
          </a:p>
        </p:txBody>
      </p:sp>
      <p:pic>
        <p:nvPicPr>
          <p:cNvPr id="4" name="Picture 3" descr="user_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712515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0" y="1371600"/>
            <a:ext cx="45720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Key Driver Functionalities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Vehicle Fleet Registry: Register 2W, 3W, and 4W vehicles with license plate normalization.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Advance Slot Holding: Pick future start/end time windows; system locks a compatible bay.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Demo Advance Payment: Simulated one-click payment confirmation converts reservation status to CONFIRMED.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Live Active Sessions: Real-time duration timer, assigned bay number, and entry timestamp tracking.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Personal History: Complete past visit records with fare breakdowns and receipts.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Administrator Operations &amp; Facility Control</a:t>
            </a:r>
          </a:p>
        </p:txBody>
      </p:sp>
      <p:pic>
        <p:nvPicPr>
          <p:cNvPr id="4" name="Picture 3" descr="admin_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179638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0" y="1371600"/>
            <a:ext cx="45720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Real-Time Facility Operations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Live Metric Counters: Total Bays (400), Occupied, Available, Reserved, Maintenance, Revenue &amp; Avg Visit Time.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Rapid Check-In / Check-Out: Submit license plate for instant nearest-bay allocation or fare calculation exit.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Interactive Live Bay Map: Color-coded visual matrix showing live status across all facility bays.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Vehicle Distribution Charts: Visual breakdown of 2W, 3W, and 4W vehicle ratios.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Peak Hour &amp; Day Trends: Insights into busiest entry windows and frequent vehicle leaderboards.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Inventory Management &amp; Nearest-Bay Allocation</a:t>
            </a:r>
          </a:p>
        </p:txBody>
      </p:sp>
      <p:pic>
        <p:nvPicPr>
          <p:cNvPr id="4" name="Picture 3" descr="parking_bay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26699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0" y="1371600"/>
            <a:ext cx="45720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Inventory Control Highlights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400 Seeded Bay Capacity: 200 2-Wheeler, 50 3-Wheeler, and 150 4-Wheeler bays created via CLI.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Nearest-Bay Algorithm: Automatically assigns the closest available compatible bay based on distance (meters).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Bay Status Management: Toggle individual bays between AVAILABLE, MAINTENANCE, and BLOCKED.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Conflict Prevention: Bays under maintenance or reserved in active time windows are excluded from entry candidates.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Employee Directory &amp; Exemption Policy</a:t>
            </a:r>
          </a:p>
        </p:txBody>
      </p:sp>
      <p:pic>
        <p:nvPicPr>
          <p:cNvPr id="4" name="Picture 3" descr="employee_managem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37685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0" y="1371600"/>
            <a:ext cx="45720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Corporate Perk Management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Employee Directory: Register employees with verified Employee IDs and department tags.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Configurable Exemption Rates: Set custom exemption percentages per employee (overriding global 100% default).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Automated Verification: Vehicles linked to an active employee automatically receive designated discounts.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Active Status Toggle: Deactivate former employee records instantly without losing historical parking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Fare Calculation &amp; Billing Policy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Base Rates per Vehicle Type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2-Wheeler: 20 units/hr</a:t>
            </a:r>
            <a:br/>
            <a:r>
              <a:t>3-Wheeler: 30 units/hr</a:t>
            </a:r>
            <a:br/>
            <a:r>
              <a:t>4-Wheeler: 50 units/hr</a:t>
            </a:r>
            <a:br/>
            <a:r>
              <a:t>Duration rounded up to next billable hour (1h min).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Employee Exemption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Global Default: 100% discount.</a:t>
            </a:r>
            <a:br/>
            <a:r>
              <a:t>Per-Employee Rate: Custom % override.</a:t>
            </a:r>
            <a:br/>
            <a:r>
              <a:t>Applied directly to Base Fare prior to loyalty tier.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2120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Loyalty Discount Tiers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10+ Completed Visits: 5% Off</a:t>
            </a:r>
            <a:br/>
            <a:r>
              <a:t>25+ Completed Visits: 10% Off</a:t>
            </a:r>
            <a:br/>
            <a:r>
              <a:t>50+ Completed Visits: 15% Off</a:t>
            </a:r>
            <a:br/>
            <a:r>
              <a:t>Applied to remaining post-employee fare.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931920"/>
            <a:ext cx="52120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Tax &amp; Final Billing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Tax Rate: 18% GST default.</a:t>
            </a:r>
            <a:br/>
            <a:r>
              <a:t>Calculated on post-discount subtotal.</a:t>
            </a:r>
            <a:br/>
            <a:r>
              <a:t>All amounts stored to 2 decimal places in UTC.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Visit History &amp; CSV Audit Reporting</a:t>
            </a:r>
          </a:p>
        </p:txBody>
      </p:sp>
      <p:pic>
        <p:nvPicPr>
          <p:cNvPr id="4" name="Picture 3" descr="visit_histor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32945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0" y="1371600"/>
            <a:ext cx="45720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Audit Ledger &amp; Export Capabilities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Comprehensive Audit Log: Itemized records of every vehicle entry, assigned bay, checkout time, and duration.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Multi-Parametric Filtering: Filter completed/active sessions by license plate, status, and entry date range.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Financial Breakdown: Shows base fare, employee discount, loyalty discount, tax, and final amount billed.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Instant CSV Export: Export filtered search results directly into formatted CSV files for financial compliance.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RESTful API &amp; System Administration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JWT RESTful API Endpoints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POST /api/auth/token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Exchange credentials for JWT bearer token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POST /api/entry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Check-in vehicle &amp; allocate nearest bay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POST /api/exit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Complete visit &amp; calculate final fare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GET/POST /api/reservations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List or create slot reservations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GET/POST /api/spots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Query or update bay inventory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GET /api/analytics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Retrieve real-time facility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CLI &amp; Automated Testing</a:t>
            </a:r>
          </a:p>
          <a:p>
            <a:pPr>
              <a:spcBef>
                <a:spcPts val="1000"/>
              </a:spcBef>
              <a:defRPr sz="1100" b="1">
                <a:solidFill>
                  <a:srgbClr val="FBBF24"/>
                </a:solidFill>
              </a:defRPr>
            </a:pPr>
            <a:r>
              <a:t>python -m flask create-admin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Interactively provisions an admin account with password hashing.</a:t>
            </a:r>
          </a:p>
          <a:p>
            <a:pPr>
              <a:spcBef>
                <a:spcPts val="1000"/>
              </a:spcBef>
              <a:defRPr sz="1100" b="1">
                <a:solidFill>
                  <a:srgbClr val="FBBF24"/>
                </a:solidFill>
              </a:defRPr>
            </a:pPr>
            <a:r>
              <a:t>python -m flask seed-parking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Populates 400 bays (200 2W, 50 3W, 150 4W) safely.</a:t>
            </a:r>
          </a:p>
          <a:p>
            <a:pPr>
              <a:spcBef>
                <a:spcPts val="1000"/>
              </a:spcBef>
              <a:defRPr sz="1100" b="1">
                <a:solidFill>
                  <a:srgbClr val="FBBF24"/>
                </a:solidFill>
              </a:defRPr>
            </a:pPr>
            <a:r>
              <a:t>python -m flask db upgrade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Applies schema migration scripts seamlessly.</a:t>
            </a:r>
          </a:p>
          <a:p>
            <a:pPr>
              <a:spcBef>
                <a:spcPts val="1000"/>
              </a:spcBef>
              <a:defRPr sz="1100" b="1">
                <a:solidFill>
                  <a:srgbClr val="FBBF24"/>
                </a:solidFill>
              </a:defRPr>
            </a:pPr>
            <a:r>
              <a:t>pytest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Executes full automated test suite for roles, JWT, and booking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PARKSENSE 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&amp; Future Enhancement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Key System Achievements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Fully Operational Dual-Role Architecture: Complete separation of Driver and Admin portals.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Zero-Docker Simplicity: Runs smoothly on standard Python virtual environment with SQLite/MySQL.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Robust Allocation &amp; Pricing: Automated nearest-bay engine and 3-step discount cascade.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High Quality Codebase: Flask application factory, clean ORM models, Pytest verification.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Future Enhancement Roadmap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🚀 Payment Gateway Integration: Connect Stripe / Razorpay for real-time online checkout.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🚀 Automatic Number Plate Recognition (ANPR): Integrate camera feeds for zero-click entry/exit.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🚀 IoT Boom Barrier Hardware Integration: Relay controls for automated barrier gates.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🚀 Native Mobile Application: Flutter / React Native app for driver booking on iOS &amp; Android.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ParkSense v1.0 Release  |  Enterprise Parking Operations Platform                                                    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